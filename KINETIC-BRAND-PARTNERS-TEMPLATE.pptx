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365D"/>
            </a:gs>
            <a:gs pos="100000">
              <a:srgbClr val="0D9488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inetic-brand-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274320"/>
            <a:ext cx="789140" cy="320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320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FFFFF"/>
                </a:solidFill>
                <a:latin typeface="Calibri"/>
              </a:defRPr>
            </a:pPr>
            <a:r>
              <a:t>Brand strategy that drives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2286000"/>
            <a:ext cx="9756648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[Presentation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Calibri"/>
              </a:defRPr>
            </a:pPr>
            <a:r>
              <a:t>[Compelling subtitle or value proposition]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6126480"/>
            <a:ext cx="9756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Kinetic Brand Partners  •  [Date]  •  [Author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6152" y="1920240"/>
            <a:ext cx="975664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99999"/>
                </a:solidFill>
                <a:latin typeface="Calibri"/>
              </a:defRPr>
            </a:pPr>
            <a:r>
              <a:t>[SECTION 01 / CONTEXT]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6152" y="2468880"/>
            <a:ext cx="975664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600" b="1">
                <a:solidFill>
                  <a:srgbClr val="1A365D"/>
                </a:solidFill>
                <a:latin typeface="Calibri"/>
              </a:defRPr>
            </a:pPr>
            <a:r>
              <a:t>[SECTION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42976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0D9488"/>
                </a:solidFill>
                <a:latin typeface="Calibri"/>
              </a:defRPr>
            </a:pPr>
            <a:r>
              <a:t>[Optional section description or key message]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6017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[Slide Title — Two Lines Maximum]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14601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A365D"/>
                </a:solidFill>
                <a:latin typeface="Calibri"/>
              </a:defRPr>
            </a:pPr>
            <a:r>
              <a:t>[Optional centered headline or key message]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114601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First key point with specific proof point or metric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Second point demonstrating business value and outcomes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Third point with strategic context or methodology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Fourth point emphasizing partnership or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Fifth point with customer validation or testimonial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inetic-brand-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245352"/>
            <a:ext cx="1217530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6181344"/>
            <a:ext cx="7619695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Kinetic Brand Partners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43055" y="6181344"/>
            <a:ext cx="4114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6017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[Two-Column Comparison or Content]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547207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A365D"/>
                </a:solidFill>
                <a:latin typeface="Calibri"/>
              </a:defRPr>
            </a:pPr>
            <a:r>
              <a:t>[Left Column Title]</a:t>
            </a:r>
          </a:p>
          <a:p>
            <a:pPr>
              <a:lnSpc>
                <a:spcPct val="150000"/>
              </a:lnSpc>
              <a:defRPr sz="1400">
                <a:solidFill>
                  <a:srgbClr val="333333"/>
                </a:solidFill>
                <a:latin typeface="Calibri"/>
              </a:defRPr>
            </a:pPr>
            <a:r>
              <a:t>Content for the left column. Could be current state, challenges, features, or any information to compare.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143000"/>
            <a:ext cx="5547207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A365D"/>
                </a:solidFill>
                <a:latin typeface="Calibri"/>
              </a:defRPr>
            </a:pPr>
            <a:r>
              <a:t>[Right Column Title]</a:t>
            </a:r>
          </a:p>
          <a:p>
            <a:pPr>
              <a:lnSpc>
                <a:spcPct val="150000"/>
              </a:lnSpc>
              <a:defRPr sz="1400">
                <a:solidFill>
                  <a:srgbClr val="333333"/>
                </a:solidFill>
                <a:latin typeface="Calibri"/>
              </a:defRPr>
            </a:pPr>
            <a:r>
              <a:t>Content for the right column. Could be future state, solutions, opportunities, or comparative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83960" y="1143000"/>
            <a:ext cx="23774" cy="489204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kinetic-brand-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245352"/>
            <a:ext cx="1217530" cy="4937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0" y="6181344"/>
            <a:ext cx="7619695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Kinetic Brand Partners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43055" y="6181344"/>
            <a:ext cx="4114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6017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[Features, Benefits, or Key Points]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5638647" cy="235458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Hero Feature</a:t>
            </a:r>
          </a:p>
          <a:p>
            <a:pPr>
              <a:lnSpc>
                <a:spcPct val="140000"/>
              </a:lnSpc>
              <a:defRPr sz="1100">
                <a:solidFill>
                  <a:srgbClr val="FFFFFF"/>
                </a:solidFill>
                <a:latin typeface="Calibri"/>
              </a:defRPr>
            </a:pPr>
            <a:r>
              <a:t>Primary value proposition or most important feature, highlighted with primary brand color.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7287" y="1143000"/>
            <a:ext cx="5638647" cy="2354580"/>
          </a:xfrm>
          <a:prstGeom prst="roundRect">
            <a:avLst/>
          </a:prstGeom>
          <a:solidFill>
            <a:srgbClr val="F8F8F8"/>
          </a:solidFill>
          <a:ln w="3810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  <a:defRPr sz="3600" b="1">
                <a:solidFill>
                  <a:srgbClr val="1A365D"/>
                </a:solidFill>
                <a:latin typeface="Calibri"/>
              </a:defRPr>
            </a:pPr>
            <a:r>
              <a:t>[Stat]</a:t>
            </a:r>
          </a:p>
          <a:p>
            <a:pPr algn="ctr">
              <a:defRPr sz="1000">
                <a:solidFill>
                  <a:srgbClr val="999999"/>
                </a:solidFill>
                <a:latin typeface="Calibri"/>
              </a:defRPr>
            </a:pPr>
            <a:r>
              <a:t>KEY METRIC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680460"/>
            <a:ext cx="5638647" cy="23545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Supporting Point</a:t>
            </a:r>
          </a:p>
          <a:p>
            <a:pPr>
              <a:lnSpc>
                <a:spcPct val="1400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Additional feature or benefit in standard light card format.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3680460"/>
            <a:ext cx="5638647" cy="235458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800"/>
              </a:spcAft>
              <a:defRPr sz="1600" b="1">
                <a:solidFill>
                  <a:srgbClr val="0D9488"/>
                </a:solidFill>
                <a:latin typeface="Calibri"/>
              </a:defRPr>
            </a:pPr>
            <a:r>
              <a:t>Supporting Point</a:t>
            </a:r>
          </a:p>
          <a:p>
            <a:pPr>
              <a:lnSpc>
                <a:spcPct val="140000"/>
              </a:lnSpc>
              <a:defRPr sz="1100">
                <a:solidFill>
                  <a:srgbClr val="333333"/>
                </a:solidFill>
                <a:latin typeface="Calibri"/>
              </a:defRPr>
            </a:pPr>
            <a:r>
              <a:t>Another capability that supports the overall message.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inetic-brand-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245352"/>
            <a:ext cx="1217530" cy="4937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86000" y="6181344"/>
            <a:ext cx="7619695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Kinetic Brand Partners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43055" y="6181344"/>
            <a:ext cx="4114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50976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11460175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[Chart or Visualization Title]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11460175" cy="443484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i="1">
                <a:solidFill>
                  <a:srgbClr val="999999"/>
                </a:solidFill>
                <a:latin typeface="Calibri"/>
              </a:defRPr>
            </a:pPr>
            <a:r>
              <a:t>[Insert Chart, Graph, or Data Visualization]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66928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  <a:latin typeface="Calibri"/>
              </a:defRPr>
            </a:pPr>
            <a:r>
              <a:t>Figure 1: [Chart description or source information]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inetic-brand-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245352"/>
            <a:ext cx="1217530" cy="493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6181344"/>
            <a:ext cx="7619695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Kinetic Brand Partners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43055" y="6181344"/>
            <a:ext cx="411480" cy="6217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3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